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C41E3A"/>
                </a:solidFill>
              </a:defRPr>
            </a:pPr>
            <a:r>
              <a:t>QUANTUM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F37"/>
                </a:solidFill>
              </a:defRPr>
            </a:pPr>
            <a:r>
              <a:t>The First Quantum-Safe Asset Protection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Protecting $2.5T in smart contract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from the quantum threat — before it's too 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Seed Round  |  February 2026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The Quantum Clock is Ticking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164592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41E3A"/>
                </a:solidFill>
              </a:defRPr>
            </a:pPr>
            <a:r>
              <a:t>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US Federal</a:t>
            </a:r>
            <a:br/>
            <a:r>
              <a:t>PQ Deadline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164592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463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41E3A"/>
                </a:solidFill>
              </a:defRPr>
            </a:pPr>
            <a:r>
              <a:t>$2.5T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Smart Contract</a:t>
            </a:r>
            <a:br/>
            <a:r>
              <a:t>Assets at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164592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41E3A"/>
                </a:solidFill>
              </a:defRPr>
            </a:pPr>
            <a: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"Harvest Now,</a:t>
            </a:r>
            <a:br/>
            <a:r>
              <a:t>Decrypt Later"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164592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463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41E3A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945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</a:defRPr>
            </a:pPr>
            <a:r>
              <a:t>Production PQ</a:t>
            </a:r>
            <a:br/>
            <a:r>
              <a:t>Protection on ETH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80"/>
              </a:spcAft>
              <a:defRPr sz="1600">
                <a:solidFill>
                  <a:srgbClr val="333333"/>
                </a:solidFill>
              </a:defRPr>
            </a:pPr>
            <a:r>
              <a:t>•  NIST finalized post-quantum standards (FIPS 204, 205) in August 2024</a:t>
            </a:r>
          </a:p>
          <a:p>
            <a:pPr>
              <a:spcAft>
                <a:spcPts val="1280"/>
              </a:spcAft>
              <a:defRPr sz="1600">
                <a:solidFill>
                  <a:srgbClr val="333333"/>
                </a:solidFill>
              </a:defRPr>
            </a:pPr>
            <a:r>
              <a:t>•  US Executive Order 14110: Federal agencies must transition by 2028</a:t>
            </a:r>
          </a:p>
          <a:p>
            <a:pPr>
              <a:spcAft>
                <a:spcPts val="1280"/>
              </a:spcAft>
              <a:defRPr sz="1600">
                <a:solidFill>
                  <a:srgbClr val="333333"/>
                </a:solidFill>
              </a:defRPr>
            </a:pPr>
            <a:r>
              <a:t>•  EU DORA/MiCA 2.0: Quantum-safe requirements for financial infrastructure</a:t>
            </a:r>
          </a:p>
          <a:p>
            <a:pPr>
              <a:spcAft>
                <a:spcPts val="1280"/>
              </a:spcAft>
              <a:defRPr sz="1600">
                <a:solidFill>
                  <a:srgbClr val="333333"/>
                </a:solidFill>
              </a:defRPr>
            </a:pPr>
            <a:r>
              <a:t>•  Vitalik Buterin: "Realistic worst case for quantum threat is 2028"</a:t>
            </a:r>
          </a:p>
          <a:p>
            <a:pPr>
              <a:spcAft>
                <a:spcPts val="1280"/>
              </a:spcAft>
              <a:defRPr sz="1600">
                <a:solidFill>
                  <a:srgbClr val="333333"/>
                </a:solidFill>
              </a:defRPr>
            </a:pPr>
            <a:r>
              <a:t>•  PsiQuantum raised $1B (BlackRock, Nvidia) in Sep 2025 — quantum is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Market: Multi-Billion Dollar PQC Wave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0" cy="11887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$2.8 - $4.6B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PQC Market by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MarketsandMarkets, Mordor Intelligence</a:t>
            </a:r>
            <a:br/>
            <a:r>
              <a:t>37-46% CAGR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39"/>
            <a:ext cx="109728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346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$400 - $900M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91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Crypto/DeFi PQ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575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15-20% of TAM</a:t>
            </a:r>
            <a:br/>
            <a:r>
              <a:t>EU DORA + DeFi protocols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9728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389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$50 - $150M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ETH-native PQ (2026-28)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212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</a:defRPr>
            </a:pPr>
            <a:r>
              <a:t>Early adopters</a:t>
            </a:r>
            <a:br/>
            <a:r>
              <a:t>Institutional custody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280160"/>
            <a:ext cx="4572000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5544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F37"/>
                </a:solidFill>
              </a:defRPr>
            </a:pPr>
            <a:r>
              <a:t>CRITICAL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28600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Ethereum PQ Upgrade: ~2028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Our head start: 2 years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QANplatform raised $17.1M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→ PQ × Crypto has VC appetite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PsiQuantum raised $1B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→ Quantum attracting serious capital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US Federal budget: $7.1B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→ for PQ migration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3-Layer Quantum-Safe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" cy="11887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</a:defRPr>
            </a:pPr>
            <a:r>
              <a:t>L1 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</a:defRPr>
            </a:pPr>
            <a:r>
              <a:t>SPHINCS+ (FIPS 205)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On-chain, immutable vault</a:t>
            </a:r>
            <a:br/>
            <a:r>
              <a:t>Ethereum Mainnet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3716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</a:defRPr>
            </a:pPr>
            <a:r>
              <a:t>L3 Aegis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</a:defRPr>
            </a:pPr>
            <a:r>
              <a:t>Dilithium (FIPS 204)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Off-chain BFT consensus</a:t>
            </a:r>
            <a:br/>
            <a:r>
              <a:t>93% gas savings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13716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</a:defRPr>
            </a:pPr>
            <a:r>
              <a:t>Prover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VRF + Quadratic Slashing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Decentralized operators</a:t>
            </a:r>
            <a:br/>
            <a:r>
              <a:t>Economic security bond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280160"/>
            <a:ext cx="5029200" cy="2286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User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Lock (2s) → 24h TimeLock → Auto-Claim → Unlock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Zero manual action needed for unlock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</a:defRPr>
            </a:pPr>
            <a:r>
              <a:t>Emergency Path: 7d failsafe, guaranteed recovery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1463040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502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Dual NIST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931920"/>
            <a:ext cx="1463040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9502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Quadratic Slashing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931920"/>
            <a:ext cx="1463040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9502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Auto-Claim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389120"/>
            <a:ext cx="1463040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4074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24h TimeLock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389120"/>
            <a:ext cx="1463040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4074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Emergency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Competitive Position: Only Dual-NIST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39" y="1280160"/>
            <a:ext cx="18288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39" y="1298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QRL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280160"/>
            <a:ext cx="18288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298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QANplatform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280160"/>
            <a:ext cx="18288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298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ETH PQ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18288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298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Solana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1280160"/>
            <a:ext cx="182880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1298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QS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Dilithium (FIPS 204)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39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~2028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737360"/>
            <a:ext cx="1828800" cy="411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1E3A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212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SPHINCS+ (FIPS 205)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39" y="2212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2212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2212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~2028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212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04120" y="2194560"/>
            <a:ext cx="1828800" cy="411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2212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1E3A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670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Economic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39" y="2670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2670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2670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670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2651760"/>
            <a:ext cx="1828800" cy="411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4120" y="2670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1E3A"/>
                </a:solidFill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Auto-Claim UX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39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3108960"/>
            <a:ext cx="1828800" cy="411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1E3A"/>
                </a:solidFill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3584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Full App Ecosystem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39" y="3584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1 app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59" y="3584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1 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79" y="3584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584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04120" y="3566160"/>
            <a:ext cx="1828800" cy="411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04120" y="3584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1E3A"/>
                </a:solidFill>
              </a:defRPr>
            </a:pPr>
            <a:r>
              <a:t>9 apps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Ethereum-native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06039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Own L1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59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Own L1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79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Core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Own L1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04120" y="4023360"/>
            <a:ext cx="1828800" cy="411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04120" y="4041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1E3A"/>
                </a:solidFill>
              </a:defRPr>
            </a:pPr>
            <a: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06039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Mainnet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59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Pilot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79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~2028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Testnet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04120" y="4480560"/>
            <a:ext cx="1828800" cy="411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04120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1E3A"/>
                </a:solidFill>
              </a:defRPr>
            </a:pPr>
            <a:r>
              <a:t>Testnet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4956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Funding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06039" y="4956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$0 (ICO '17)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59" y="4956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$17.1M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5079" y="4956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∞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4956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∞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04120" y="4937760"/>
            <a:ext cx="1828800" cy="4114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04120" y="49560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1E3A"/>
                </a:solidFill>
              </a:defRPr>
            </a:pPr>
            <a:r>
              <a:t>Seeking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t>Novel: Quadratic Slashing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penalty = N² × 10% of stake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Making collusion exponentially more expensive than honesty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731520" cy="640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1 cheater: 10% lost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</a:defRPr>
            </a:pPr>
            <a:r>
              <a:t>90% remains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2926080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 colluders: 40% lost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</a:defRPr>
            </a:pPr>
            <a:r>
              <a:t>60% remains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6583680" cy="640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97679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 colluders: 90%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343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</a:defRPr>
            </a:pPr>
            <a:r>
              <a:t>10% remains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7315200" cy="6400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4+ colluders: 100%+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00"/>
                </a:solidFill>
              </a:defRPr>
            </a:pPr>
            <a:r>
              <a:t>0% remains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94560"/>
            <a:ext cx="3474720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</a:defRPr>
            </a:pPr>
            <a:r>
              <a:t>With $400K stake/Prover: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FFFFFF"/>
                </a:solidFill>
              </a:defRPr>
            </a:pPr>
            <a:r>
              <a:t>1 cheater: $40K lost</a:t>
            </a:r>
          </a:p>
          <a:p>
            <a:pPr>
              <a:spcAft>
                <a:spcPts val="519"/>
              </a:spcAft>
              <a:defRPr sz="1300">
                <a:solidFill>
                  <a:srgbClr val="FFFFFF"/>
                </a:solidFill>
              </a:defRPr>
            </a:pPr>
            <a:r>
              <a:t>2 colluders: $320K total</a:t>
            </a:r>
          </a:p>
          <a:p>
            <a:pPr>
              <a:spcAft>
                <a:spcPts val="519"/>
              </a:spcAft>
              <a:defRPr sz="1300">
                <a:solidFill>
                  <a:srgbClr val="FFFFFF"/>
                </a:solidFill>
              </a:defRPr>
            </a:pPr>
            <a:r>
              <a:t>3 colluders: $1.08M total</a:t>
            </a:r>
          </a:p>
          <a:p>
            <a:pPr>
              <a:spcAft>
                <a:spcPts val="519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519"/>
              </a:spcAft>
              <a:defRPr sz="1300">
                <a:solidFill>
                  <a:srgbClr val="FFFFFF"/>
                </a:solidFill>
              </a:defRPr>
            </a:pPr>
            <a:r>
              <a:t>60% of slashed funds →</a:t>
            </a:r>
          </a:p>
          <a:p>
            <a:pPr>
              <a:spcAft>
                <a:spcPts val="519"/>
              </a:spcAft>
              <a:defRPr sz="1300">
                <a:solidFill>
                  <a:srgbClr val="FFFFFF"/>
                </a:solidFill>
              </a:defRPr>
            </a:pPr>
            <a:r>
              <a:t>Challenger reward</a:t>
            </a:r>
          </a:p>
          <a:p>
            <a:pPr>
              <a:spcAft>
                <a:spcPts val="519"/>
              </a:spcAft>
              <a:defRPr sz="1300">
                <a:solidFill>
                  <a:srgbClr val="FFFFFF"/>
                </a:solidFill>
              </a:defRPr>
            </a:pPr>
            <a:r>
              <a:t>= active fraud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Product: 9 Apps, 175 Screens, Ready to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</a:defRPr>
            </a:pPr>
            <a:r>
              <a:t>Full ecosystem — not just a smart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Consumer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Consumer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Lock / Unlock / Emergency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Public tx history, risk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Token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veQS staking, rewards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463040"/>
            <a:ext cx="274320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Governance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0116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Governance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Proposals, veQS voting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9260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971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QS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Treasury, allocation tracking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463040"/>
            <a:ext cx="27432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Institutional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0116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Enterprise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Multi-sig custody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9260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971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QS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Foundation operations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1463040"/>
            <a:ext cx="2743200" cy="3657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  Operators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0116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Prover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377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Node ops, signing queue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2926080"/>
            <a:ext cx="2743200" cy="77724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2971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</a:defRPr>
            </a:pPr>
            <a:r>
              <a:t>Observer Portal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Monitoring, challenges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375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Components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API Endpoints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144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E2E Tests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251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Live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Sepolia Testnet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→ Replace with actual screenshots from capture-pitch-screenshots.ts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Traction: 92%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842601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  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</a:defRPr>
            </a:pPr>
            <a: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✅  Core Protocol (SEQUENCES v3.0) — 9 complete sequences</a:t>
            </a:r>
          </a:p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✅  L1 Vault on Sepolia (deployed, verifiable)</a:t>
            </a:r>
          </a:p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✅  9 Frontend Applications (React/Next.js)</a:t>
            </a:r>
          </a:p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✅  202 Backend API Endpoints (Rust/Axum)</a:t>
            </a:r>
          </a:p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✅  PostgreSQL + Redis Storage Layer</a:t>
            </a:r>
          </a:p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✅  144 E2E Test Files (Playwright)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</a:defRPr>
            </a:pPr>
            <a:r>
              <a:t>Remaining (~15 days)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🔜  L3 Environment Configuration</a:t>
            </a:r>
          </a:p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🔜  Mock Data Cleanup (38 locations)</a:t>
            </a:r>
          </a:p>
          <a:p>
            <a:pPr>
              <a:spcAft>
                <a:spcPts val="780"/>
              </a:spcAft>
              <a:defRPr sz="1300">
                <a:solidFill>
                  <a:srgbClr val="333333"/>
                </a:solidFill>
              </a:defRPr>
            </a:pPr>
            <a:r>
              <a:t>🔜  Final E2E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5029200"/>
            <a:ext cx="2286000" cy="45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2025 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Architecture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5029200"/>
            <a:ext cx="2286000" cy="45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2025 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Core Protocol + Smart Contracts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029200"/>
            <a:ext cx="2286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2026 Q1 ←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9 Apps + Backend + Testnet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5029200"/>
            <a:ext cx="2286000" cy="45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2026 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</a:defRPr>
            </a:pPr>
            <a:r>
              <a:t>Audit → Mainnet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Business Model &amp; 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Transaction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>
                <a:solidFill>
                  <a:srgbClr val="333333"/>
                </a:solidFill>
              </a:defRPr>
            </a:pPr>
            <a:r>
              <a:t>Lock:    ~$7   (135K gas)</a:t>
            </a:r>
          </a:p>
          <a:p>
            <a:pPr>
              <a:spcAft>
                <a:spcPts val="559"/>
              </a:spcAft>
              <a:defRPr sz="1400">
                <a:solidFill>
                  <a:srgbClr val="333333"/>
                </a:solidFill>
              </a:defRPr>
            </a:pPr>
            <a:r>
              <a:t>Unlock:  ~$27  (490K gas, Treasury-paid)</a:t>
            </a:r>
          </a:p>
          <a:p>
            <a:pPr>
              <a:spcAft>
                <a:spcPts val="559"/>
              </a:spcAft>
              <a:defRPr sz="1400">
                <a:solidFill>
                  <a:srgbClr val="333333"/>
                </a:solidFill>
              </a:defRPr>
            </a:pPr>
            <a:r>
              <a:t>Total:   ~$34  per round-trip</a:t>
            </a:r>
          </a:p>
          <a:p>
            <a:pPr>
              <a:spcAft>
                <a:spcPts val="559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59"/>
              </a:spcAft>
              <a:defRPr sz="1400">
                <a:solidFill>
                  <a:srgbClr val="333333"/>
                </a:solidFill>
              </a:defRPr>
            </a:pPr>
            <a:r>
              <a:t>vs. On-chain PQ: $40-100+</a:t>
            </a:r>
          </a:p>
          <a:p>
            <a:pPr>
              <a:spcAft>
                <a:spcPts val="559"/>
              </a:spcAft>
              <a:defRPr sz="1400">
                <a:solidFill>
                  <a:srgbClr val="333333"/>
                </a:solidFill>
              </a:defRPr>
            </a:pPr>
            <a:r>
              <a:t>→ 30-70% cheaper via L1/L3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029200" cy="27432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Revenue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 Protocol Fees (0.1-0.5% of lock amount)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 Enterprise Licensing (multi-org features)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 Prover Rewards (consensus participation)</a:t>
            </a:r>
          </a:p>
          <a:p>
            <a:pPr>
              <a:spcAft>
                <a:spcPts val="700"/>
              </a:spcAft>
              <a:defRPr sz="1400">
                <a:solidFill>
                  <a:srgbClr val="333333"/>
                </a:solidFill>
              </a:defRPr>
            </a:pPr>
            <a:r>
              <a:t>•  Treasury Yield (protocol-owned liquidity)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veQS Token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5349240" cy="5486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veQS Holders</a:t>
            </a:r>
            <a:br/>
            <a:r>
              <a:t>(Governance)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4754880"/>
            <a:ext cx="3209544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4800600"/>
            <a:ext cx="32095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5394960"/>
            <a:ext cx="32095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Provers</a:t>
            </a:r>
            <a:br/>
            <a:r>
              <a:t>(Security)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0304" y="4754880"/>
            <a:ext cx="1069848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4800600"/>
            <a:ext cx="1069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 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5394960"/>
            <a:ext cx="1069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Observers</a:t>
            </a:r>
            <a:br/>
            <a:r>
              <a:t>(Monitoring)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60152" y="4754880"/>
            <a:ext cx="1069848" cy="5486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60152" y="4800600"/>
            <a:ext cx="1069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 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0152" y="5394960"/>
            <a:ext cx="10698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</a:defRPr>
            </a:pPr>
            <a:r>
              <a:t>Treasury</a:t>
            </a:r>
            <a:br/>
            <a:r>
              <a:t>(Development)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F37"/>
                </a:solidFill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</a:defRPr>
            </a:pPr>
            <a:r>
              <a:t>Q1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25880"/>
            <a:ext cx="91440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44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Sepolia Testnet Public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9 Apps Functional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L3 Config + Mock Cleanup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Security Audit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Pilot: 4-8 Trusted Provers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Enterprise Beta Program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2743200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Ethereum Mainnet Launch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veQS Governance Live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Multi-asset (ERC-20)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280160"/>
            <a:ext cx="2743200" cy="32004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011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Decentralized Prover Onboarding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DeFi Partnerships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Cross-chain Expansion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11247120" cy="13716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F37"/>
                </a:solidFill>
              </a:defRPr>
            </a:pPr>
            <a:r>
              <a:t>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9377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>
                <a:solidFill>
                  <a:srgbClr val="FFFFFF"/>
                </a:solidFill>
              </a:defRPr>
            </a:pPr>
            <a:r>
              <a:t>•  Hardware Wallet Integration</a:t>
            </a:r>
          </a:p>
          <a:p>
            <a:pPr>
              <a:spcAft>
                <a:spcPts val="559"/>
              </a:spcAft>
              <a:defRPr sz="1400">
                <a:solidFill>
                  <a:srgbClr val="FFFFFF"/>
                </a:solidFill>
              </a:defRPr>
            </a:pPr>
            <a:r>
              <a:t>•  Enterprise SaaS Launch</a:t>
            </a:r>
          </a:p>
          <a:p>
            <a:pPr>
              <a:spcAft>
                <a:spcPts val="559"/>
              </a:spcAft>
              <a:defRPr sz="1400">
                <a:solidFill>
                  <a:srgbClr val="FFFFFF"/>
                </a:solidFill>
              </a:defRPr>
            </a:pPr>
            <a:r>
              <a:t>•  Target: $500M+ TVL, 10M+ Locks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</a:defRPr>
            </a:pPr>
            <a:r>
              <a:t>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F37"/>
                </a:solidFill>
              </a:defRPr>
            </a:pPr>
            <a:r>
              <a:t>$3 — $5M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Engineering &amp;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Security audit ($200-500K)</a:t>
            </a:r>
          </a:p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L1/L3 production optimization</a:t>
            </a:r>
          </a:p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Chief Cryptographer hire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743200" cy="27432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7432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470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Enterprise Sales (2 hires)</a:t>
            </a:r>
          </a:p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DeFi Partnership Development</a:t>
            </a:r>
          </a:p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Community Building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743200" cy="27432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743200" cy="457200"/>
          </a:xfrm>
          <a:prstGeom prst="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8470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L3 Infrastructure (12 months)</a:t>
            </a:r>
          </a:p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Prover Pilot Program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2743200" cy="27432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2743200" cy="457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470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18745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Legal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4688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Token Legal Structure</a:t>
            </a:r>
          </a:p>
          <a:p>
            <a:pPr>
              <a:spcAft>
                <a:spcPts val="550"/>
              </a:spcAft>
              <a:defRPr sz="1100">
                <a:solidFill>
                  <a:srgbClr val="888888"/>
                </a:solidFill>
              </a:defRPr>
            </a:pPr>
            <a:r>
              <a:t>Regulatory 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</a:defRPr>
            </a:pPr>
            <a:r>
              <a:t>18-Month Targets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$500M+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TVL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4+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Institutional</a:t>
            </a:r>
            <a:br/>
            <a:r>
              <a:t>Clients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8+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Active</a:t>
            </a:r>
            <a:br/>
            <a:r>
              <a:t>Provers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Mainnet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Q3 2026</a:t>
            </a:r>
            <a:br/>
            <a:r>
              <a:t>Launch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FFFFFF"/>
                </a:solidFill>
              </a:defRPr>
            </a:pPr>
            <a:r>
              <a:t>•  NIST standardized PQ algorithms (Aug 2024)</a:t>
            </a:r>
          </a:p>
          <a:p>
            <a:pPr>
              <a:spcAft>
                <a:spcPts val="1050"/>
              </a:spcAft>
              <a:defRPr sz="1500">
                <a:solidFill>
                  <a:srgbClr val="FFFFFF"/>
                </a:solidFill>
              </a:defRPr>
            </a:pPr>
            <a:r>
              <a:t>•  US/EU mandates driving adoption (2028)</a:t>
            </a:r>
          </a:p>
          <a:p>
            <a:pPr>
              <a:spcAft>
                <a:spcPts val="1050"/>
              </a:spcAft>
              <a:defRPr sz="1500">
                <a:solidFill>
                  <a:srgbClr val="FFFFFF"/>
                </a:solidFill>
              </a:defRPr>
            </a:pPr>
            <a:r>
              <a:t>•  Ethereum PQ upgrade: 2028 → 2yr window</a:t>
            </a:r>
          </a:p>
          <a:p>
            <a:pPr>
              <a:spcAft>
                <a:spcPts val="1050"/>
              </a:spcAft>
              <a:defRPr sz="1500">
                <a:solidFill>
                  <a:srgbClr val="FFFFFF"/>
                </a:solidFill>
              </a:defRPr>
            </a:pPr>
            <a:r>
              <a:t>•  "Harvest Now, Decrypt Later" is happening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F37"/>
                </a:solidFill>
              </a:defRPr>
            </a:pPr>
            <a:r>
              <a:t>Why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FFFFFF"/>
                </a:solidFill>
              </a:defRPr>
            </a:pPr>
            <a:r>
              <a:t>•  Only dual-NIST protocol in crypto</a:t>
            </a:r>
          </a:p>
          <a:p>
            <a:pPr>
              <a:spcAft>
                <a:spcPts val="1050"/>
              </a:spcAft>
              <a:defRPr sz="1500">
                <a:solidFill>
                  <a:srgbClr val="FFFFFF"/>
                </a:solidFill>
              </a:defRPr>
            </a:pPr>
            <a:r>
              <a:t>•  Full product (not just whitepaper)</a:t>
            </a:r>
          </a:p>
          <a:p>
            <a:pPr>
              <a:spcAft>
                <a:spcPts val="1050"/>
              </a:spcAft>
              <a:defRPr sz="1500">
                <a:solidFill>
                  <a:srgbClr val="FFFFFF"/>
                </a:solidFill>
              </a:defRPr>
            </a:pPr>
            <a:r>
              <a:t>•  92% built, Sepolia live, demo-ready</a:t>
            </a:r>
          </a:p>
          <a:p>
            <a:pPr>
              <a:spcAft>
                <a:spcPts val="1050"/>
              </a:spcAft>
              <a:defRPr sz="1500">
                <a:solidFill>
                  <a:srgbClr val="FFFFFF"/>
                </a:solidFill>
              </a:defRPr>
            </a:pPr>
            <a:r>
              <a:t>•  Novel economic security (Quad Slashing)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657600"/>
            <a:ext cx="8503920" cy="18288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3657600"/>
            <a:ext cx="91440" cy="1828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8404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FFFFFF"/>
                </a:solidFill>
              </a:defRPr>
            </a:pPr>
            <a:r>
              <a:t>In 2 years, every major protocol will need</a:t>
            </a:r>
          </a:p>
          <a:p>
            <a:pPr>
              <a:spcAft>
                <a:spcPts val="660"/>
              </a:spcAft>
              <a:defRPr sz="2200">
                <a:solidFill>
                  <a:srgbClr val="FFFFFF"/>
                </a:solidFill>
              </a:defRPr>
            </a:pPr>
            <a:r>
              <a:t>quantum-safe infrastructure.</a:t>
            </a:r>
          </a:p>
          <a:p>
            <a:pPr>
              <a:spcAft>
                <a:spcPts val="66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660"/>
              </a:spcAft>
              <a:defRPr sz="2200">
                <a:solidFill>
                  <a:srgbClr val="FFFFFF"/>
                </a:solidFill>
              </a:defRPr>
            </a:pPr>
            <a:r>
              <a:t>We're building it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[Your Name]  |  [Email]  |  [Twitter/X]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